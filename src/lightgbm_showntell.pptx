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Score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Run A
(GBDT)</c:v>
                  </c:pt>
                  <c:pt idx="1">
                    <c:v>Run B
(DART)</c:v>
                  </c:pt>
                  <c:pt idx="2">
                    <c:v>Run C
(DART)</c:v>
                  </c:pt>
                  <c:pt idx="3">
                    <c:v>Run D
(DART)</c:v>
                  </c:pt>
                  <c:pt idx="4">
                    <c:v>Run E
(GBDT)</c:v>
                  </c:pt>
                  <c:pt idx="5">
                    <c:v>Run F
(GBDT)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0.8423</c:v>
                </c:pt>
                <c:pt idx="1">
                  <c:v>0.8391</c:v>
                </c:pt>
                <c:pt idx="2">
                  <c:v>0.8447</c:v>
                </c:pt>
                <c:pt idx="3">
                  <c:v>0.8378</c:v>
                </c:pt>
                <c:pt idx="4">
                  <c:v>0.8423</c:v>
                </c:pt>
                <c:pt idx="5">
                  <c:v>0.8423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8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oval">
            <a:avLst/>
          </a:prstGeom>
          <a:solidFill>
            <a:srgbClr val="1A5FB4">
              <a:alpha val="18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457200"/>
            <a:ext cx="2743200" cy="2743200"/>
          </a:xfrm>
          <a:prstGeom prst="oval">
            <a:avLst/>
          </a:prstGeom>
          <a:solidFill>
            <a:srgbClr val="4A90D9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389120"/>
            <a:ext cx="54864" cy="54864"/>
          </a:xfrm>
          <a:prstGeom prst="oval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663440"/>
            <a:ext cx="54864" cy="54864"/>
          </a:xfrm>
          <a:prstGeom prst="oval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480560"/>
            <a:ext cx="54864" cy="54864"/>
          </a:xfrm>
          <a:prstGeom prst="oval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114800"/>
            <a:ext cx="54864" cy="54864"/>
          </a:xfrm>
          <a:prstGeom prst="oval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480560"/>
            <a:ext cx="54864" cy="54864"/>
          </a:xfrm>
          <a:prstGeom prst="oval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914400"/>
            <a:ext cx="1371600" cy="256032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914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A90D9"/>
                </a:solidFill>
              </a:rPr>
              <a:t>SHOW &amp; TELL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325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DART boosting silently broke our pipeline — and how we fixed it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2286000" cy="36576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Model Development Team  |  Banking &amp; Finance  |  Internal – Confidential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1298448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Mystery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84832" y="4389120"/>
            <a:ext cx="1298448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4389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4832" y="4617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Root Cause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9584" y="4389120"/>
            <a:ext cx="1298448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4389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9584" y="4617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DART vs GBDT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74336" y="4389120"/>
            <a:ext cx="1298448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4389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74336" y="4617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Evidence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19088" y="4389120"/>
            <a:ext cx="1298448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389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9088" y="4617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The Fix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63840" y="4389120"/>
            <a:ext cx="1298448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4389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617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Takeaways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CHAPTER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Reproducibility Mystery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Same data. Same code. Same seed. Different results. Every. Single.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828800"/>
            <a:ext cx="36576" cy="2286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856232"/>
            <a:ext cx="256032" cy="256032"/>
          </a:xfrm>
          <a:prstGeom prst="oval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78308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8105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Run A  →  AUC 0.8423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0299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Monday · seed=42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856232"/>
            <a:ext cx="6400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562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70432" y="2468880"/>
            <a:ext cx="256032" cy="256032"/>
          </a:xfrm>
          <a:prstGeom prst="oval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39572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24231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Run B  →  AUC 0.8391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26426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Tuesday · seed=42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6400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68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−0.0032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70432" y="3063240"/>
            <a:ext cx="256032" cy="256032"/>
          </a:xfrm>
          <a:prstGeom prst="oval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299008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91640" y="30175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Run C  →  AUC 0.8447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32369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Wednesday · seed=42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063240"/>
            <a:ext cx="6400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063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+0.0024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70432" y="3657600"/>
            <a:ext cx="256032" cy="256032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358444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91640" y="36118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Investigation starts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3831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Seeds checked… all locked. Still drifting.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0"/>
            <a:ext cx="64008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657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???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32320" y="1920240"/>
            <a:ext cx="1828800" cy="914400"/>
          </a:xfrm>
          <a:prstGeom prst="rect">
            <a:avLst/>
          </a:prstGeom>
          <a:solidFill>
            <a:srgbClr val="D6E8FF"/>
          </a:solidFill>
          <a:ln w="19050">
            <a:solidFill>
              <a:srgbClr val="1A5F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9202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5FB4"/>
                </a:solidFill>
              </a:rPr>
              <a:t>"The seeds were fine. The problem was somewhere the seed doesn't reach."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1920240"/>
            <a:ext cx="64008" cy="91440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E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6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Slide 2 / 8  ·  LightGBM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CHAPTER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 Found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12064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AA"/>
                </a:solidFill>
              </a:rPr>
              <a:t>optuna_params.py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307592"/>
            <a:ext cx="128016" cy="128016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307592"/>
            <a:ext cx="128016" cy="128016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307592"/>
            <a:ext cx="128016" cy="128016"/>
          </a:xfrm>
          <a:prstGeom prst="oval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param_space = {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"n_estimators":  suggest_int(100, 800),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"learning_rate": suggest_float(0.01, 0.3),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054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"max_depth":     suggest_int(3, 12),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98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"boosting_type": suggest_categorical(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["gbdt", "dart"]   ← THE CULPRIT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"random_state":  42,  # seed here BUT…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1234440"/>
            <a:ext cx="315468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234440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3075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boosting_type was inside Optuna's search space — so some trials used DART, others GBDT, silently.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2258568"/>
            <a:ext cx="31546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2258568"/>
            <a:ext cx="54864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331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Why seeds can't help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257860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DART's dropout uses system-level randomness. random_state in LightGBM does NOT control 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3282696"/>
            <a:ext cx="3154680" cy="914400"/>
          </a:xfrm>
          <a:prstGeom prst="rect">
            <a:avLst/>
          </a:prstGeom>
          <a:solidFill>
            <a:srgbClr val="D6E8FF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3282696"/>
            <a:ext cx="54864" cy="91440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3558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FB4"/>
                </a:solidFill>
              </a:rPr>
              <a:t>Why it was hard to spot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6027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DART sometimes beat GBDT on AUC — so Optuna kept picking it. The variance looked like noise.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Slide 3 / 8  ·  LightGBM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CHAPTER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DART vs GBDT — What Actually Differs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GBDT  (Gradient Boosted Decision Trees)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" y="2606040"/>
            <a:ext cx="91440" cy="45720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48840"/>
            <a:ext cx="292608" cy="475488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9067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89888" y="2606040"/>
            <a:ext cx="91440" cy="45720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9304" y="2148840"/>
            <a:ext cx="292608" cy="475488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09067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84832" y="2606040"/>
            <a:ext cx="9144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4248" y="2148840"/>
            <a:ext cx="292608" cy="475488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309067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9776" y="2606040"/>
            <a:ext cx="91440" cy="45720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2148840"/>
            <a:ext cx="292608" cy="475488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309067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606040"/>
            <a:ext cx="9144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74136" y="2148840"/>
            <a:ext cx="292608" cy="475488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309067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3291840" cy="3657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55264"/>
            <a:ext cx="109728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01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</a:rPr>
              <a:t>All trees contribute every iteration → deterministic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3291840" cy="347472"/>
          </a:xfrm>
          <a:prstGeom prst="rect">
            <a:avLst/>
          </a:prstGeom>
          <a:solidFill>
            <a:srgbClr val="E4F5EC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49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  Fixed seed = identical results every run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1188720"/>
            <a:ext cx="45720" cy="32004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VS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1234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DART  (Dropout Additive Regression Trees)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91456" y="2606040"/>
            <a:ext cx="91440" cy="457200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2148840"/>
            <a:ext cx="347472" cy="475488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0906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14416" y="2606040"/>
            <a:ext cx="91440" cy="457200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04688" y="2148840"/>
            <a:ext cx="347472" cy="475488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5504688" y="2148840"/>
            <a:ext cx="34747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30906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T2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37376" y="2606040"/>
            <a:ext cx="91440" cy="457200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2148840"/>
            <a:ext cx="347472" cy="475488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0906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60336" y="2606040"/>
            <a:ext cx="91440" cy="457200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0608" y="2148840"/>
            <a:ext cx="347472" cy="475488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7150608" y="2148840"/>
            <a:ext cx="34747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30906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T4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83296" y="2606040"/>
            <a:ext cx="91440" cy="457200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73568" y="2148840"/>
            <a:ext cx="347472" cy="475488"/>
          </a:xfrm>
          <a:prstGeom prst="rect">
            <a:avLst/>
          </a:prstGeom>
          <a:solidFill>
            <a:srgbClr val="1A5FB4">
              <a:alpha val="80000"/>
            </a:srgbClr>
          </a:solidFill>
          <a:ln w="12700">
            <a:solidFill>
              <a:srgbClr val="1A5FB4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30906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2331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DROPOUT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17720" y="3337560"/>
            <a:ext cx="39319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3401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Random trees dropped each iteration → non-deterministic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3749040"/>
            <a:ext cx="393192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749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 Seed cannot control dropout randomness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Slide 4 / 8  ·  LightGBM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CHAPTER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When we tracked boosting_type per run, the pattern became unmistakable.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600200"/>
            <a:ext cx="2834640" cy="896112"/>
          </a:xfrm>
          <a:prstGeom prst="rect">
            <a:avLst/>
          </a:prstGeom>
          <a:solidFill>
            <a:srgbClr val="E4F5EC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6550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±0.0000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126480" y="2130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</a:rPr>
              <a:t>GBDT variance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624328"/>
            <a:ext cx="2834640" cy="8961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679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±0.0069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126480" y="3154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DART variance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648456"/>
            <a:ext cx="2834640" cy="8961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 bps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126480" y="41788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</a:rPr>
              <a:t>max swing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4617720"/>
            <a:ext cx="2834640" cy="658368"/>
          </a:xfrm>
          <a:prstGeom prst="rect">
            <a:avLst/>
          </a:prstGeom>
          <a:solidFill>
            <a:srgbClr val="D6E8FF"/>
          </a:solidFill>
          <a:ln w="19050">
            <a:solidFill>
              <a:srgbClr val="1A5F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46177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5FB4"/>
                </a:solidFill>
              </a:rPr>
              <a:t>In credit scoring, 69 basis points of AUC variance across identical runs is a material compliance risk — not just technical noise.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4617720"/>
            <a:ext cx="64008" cy="658368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Slide 5 / 8  ·  LightGBM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CHAPTER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 — Two Changes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605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 —  boosting_type in search space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1605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param_space = 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"n_estimators": suggest_int(...),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"learning_rate": suggest_float(...),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"boosting_type": suggest_categorical(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["gbdt", "dart"]  # ← BAD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406908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344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 —  boosting_type locked outside Optuna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406908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Locked — explicit &amp; auditable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1883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= {"boosting_type": "gbdt"}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1396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3957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param_space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"n_estimators": suggest_int(...),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907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"learning_rate": suggest_float(...),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1638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# boosting_type REMOVED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4582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model.booster_.params["boosting"] == "gbdt", "Must use GBDT for audit reproducibility"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93008"/>
            <a:ext cx="2560320" cy="219456"/>
          </a:xfrm>
          <a:prstGeom prst="rect">
            <a:avLst/>
          </a:prstGeom>
          <a:solidFill>
            <a:srgbClr val="D6E8FF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49300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FB4"/>
                </a:solidFill>
              </a:rPr>
              <a:t>DEFENSIVE ASSERTION  — added to post-training validation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458200" cy="502920"/>
          </a:xfrm>
          <a:prstGeom prst="rect">
            <a:avLst/>
          </a:prstGeom>
          <a:solidFill>
            <a:srgbClr val="E4F5EC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605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4A"/>
                </a:solidFill>
              </a:rPr>
              <a:t>If the assertion fires, the pipeline fails loudly — never silently producing non-reproducible results.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64008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Slide 6 / 8  ·  LightGBM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CHAPTER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Checklist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585216"/>
          </a:xfrm>
          <a:prstGeom prst="rect">
            <a:avLst/>
          </a:prstGeom>
          <a:solidFill>
            <a:srgbClr val="E4F5EC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384048" cy="384048"/>
          </a:xfrm>
          <a:prstGeom prst="oval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32588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Fix random_state / seed in all estimators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023360" cy="585216"/>
          </a:xfrm>
          <a:prstGeom prst="rect">
            <a:avLst/>
          </a:prstGeom>
          <a:solidFill>
            <a:srgbClr val="E4F5EC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384048" cy="384048"/>
          </a:xfrm>
          <a:prstGeom prst="oval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" y="203911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Fix numpy.random.seed and random.seed at pipeline entry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4023360" cy="585216"/>
          </a:xfrm>
          <a:prstGeom prst="rect">
            <a:avLst/>
          </a:prstGeom>
          <a:solidFill>
            <a:srgbClr val="E4F5EC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43784"/>
            <a:ext cx="384048" cy="384048"/>
          </a:xfrm>
          <a:prstGeom prst="oval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275234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Pin Python, library, and OS versions in CI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4023360" cy="585216"/>
          </a:xfrm>
          <a:prstGeom prst="rect">
            <a:avLst/>
          </a:prstGeom>
          <a:solidFill>
            <a:srgbClr val="E4F5EC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57016"/>
            <a:ext cx="384048" cy="384048"/>
          </a:xfrm>
          <a:prstGeom prst="oval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346557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Lock boosting_type = "gbdt" — never tune it in regulated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325880"/>
            <a:ext cx="4023360" cy="585216"/>
          </a:xfrm>
          <a:prstGeom prst="rect">
            <a:avLst/>
          </a:prstGeom>
          <a:solidFill>
            <a:srgbClr val="E4F5EC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417320"/>
            <a:ext cx="384048" cy="384048"/>
          </a:xfrm>
          <a:prstGeom prst="oval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13248" y="132588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Add post-training param assertions for critical settings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039112"/>
            <a:ext cx="4023360" cy="585216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130552"/>
            <a:ext cx="384048" cy="384048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13248" y="203911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Never allow Optuna to tune non-deterministic algorithms (DART, etc.)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752344"/>
            <a:ext cx="4023360" cy="585216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843784"/>
            <a:ext cx="384048" cy="384048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43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13248" y="275234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Log all model params to MLflow / audit trail on every run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84582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480560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Lesson: Seeds can only control what they're wired to. Always audit your search space — not just your estimator settings.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Slide 7 / 8  ·  LightGBM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3657600" cy="3657600"/>
          </a:xfrm>
          <a:prstGeom prst="oval">
            <a:avLst/>
          </a:prstGeom>
          <a:solidFill>
            <a:srgbClr val="1A5FB4">
              <a:alpha val="1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oval">
            <a:avLst/>
          </a:prstGeom>
          <a:solidFill>
            <a:srgbClr val="4A90D9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Seeds can't fix what they don't control.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A90D9"/>
                </a:solidFill>
              </a:rPr>
              <a:t>Audit your search space, not just your estimators.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730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variance after fix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0" y="3730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validation runs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92240" y="3730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lines changed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4206240"/>
            <a:ext cx="4572000" cy="36576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Questions?  →  Ask the model dev team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Model Development Team  |  LightGBM Reproducibility Show &amp; Tell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LightGBM Reproducibility — Show &amp; Tell</dc:title>
  <dc:subject>PptxGenJS Presentation</dc:subject>
  <dc:creator>PptxGenJS</dc:creator>
  <cp:lastModifiedBy>PptxGenJS</cp:lastModifiedBy>
  <cp:revision>1</cp:revision>
  <dcterms:created xsi:type="dcterms:W3CDTF">2026-04-29T01:41:27Z</dcterms:created>
  <dcterms:modified xsi:type="dcterms:W3CDTF">2026-04-29T01:41:27Z</dcterms:modified>
</cp:coreProperties>
</file>